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457200"/>
            <a:ext cx="1828800" cy="18288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solidFill>
            <a:srgbClr val="003366"/>
          </a:solidFill>
          <a:ln w="381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0"/>
            </a:pPr>
            <a:r>
              <a:t>⚙️🔧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Migration Analysis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66666"/>
                </a:solidFill>
              </a:defRPr>
            </a:pPr>
            <a:r>
              <a:t>Automated Migration Analysis with AI &amp; RTC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629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365760"/>
            <a:ext cx="9006840" cy="9144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🎯 Tool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t>🎯 Comprehensive solution for code migration analysis</a:t>
            </a:r>
          </a:p>
          <a:p>
            <a:pPr>
              <a:spcBef>
                <a:spcPts val="1400"/>
              </a:spcBef>
              <a:defRPr sz="2000"/>
            </a:pPr>
            <a:r>
              <a:t>⚡ 10x faster processing with parallel execution</a:t>
            </a:r>
          </a:p>
          <a:p>
            <a:pPr>
              <a:spcBef>
                <a:spcPts val="1400"/>
              </a:spcBef>
              <a:defRPr sz="2000"/>
            </a:pPr>
            <a:r>
              <a:t>🤖 AI-powered intelligent merge suggestions</a:t>
            </a:r>
          </a:p>
          <a:p>
            <a:pPr>
              <a:spcBef>
                <a:spcPts val="1400"/>
              </a:spcBef>
              <a:defRPr sz="2000"/>
            </a:pPr>
            <a:r>
              <a:t>☁️ Enterprise RTC/ALM integration</a:t>
            </a:r>
          </a:p>
          <a:p>
            <a:pPr>
              <a:spcBef>
                <a:spcPts val="1400"/>
              </a:spcBef>
              <a:defRPr sz="2000"/>
            </a:pPr>
            <a:r>
              <a:t>📊 Detailed HTML and Excel reporting</a:t>
            </a:r>
          </a:p>
          <a:p>
            <a:pPr>
              <a:spcBef>
                <a:spcPts val="1400"/>
              </a:spcBef>
              <a:defRPr sz="2000"/>
            </a:pPr>
            <a:r>
              <a:t>💬 Interactive AI comparison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📊 Comparison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13716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📁 Offline → Offline</a:t>
            </a:r>
          </a:p>
          <a:p>
            <a:pPr algn="ctr">
              <a:defRPr sz="1600" b="1">
                <a:solidFill>
                  <a:srgbClr val="003366"/>
                </a:solidFill>
              </a:defRPr>
            </a:pPr>
          </a:p>
          <a:p>
            <a:pPr algn="ctr">
              <a:defRPr sz="1600" b="1">
                <a:solidFill>
                  <a:srgbClr val="003366"/>
                </a:solidFill>
              </a:defRPr>
            </a:pPr>
            <a:r>
              <a:t>Folder/ZIP</a:t>
            </a:r>
          </a:p>
          <a:p>
            <a:pPr algn="ctr">
              <a:defRPr sz="1600" b="1">
                <a:solidFill>
                  <a:srgbClr val="003366"/>
                </a:solidFill>
              </a:defRPr>
            </a:pPr>
            <a:r>
              <a:t>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37160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63300"/>
                </a:solidFill>
              </a:defRPr>
            </a:pPr>
            <a:r>
              <a:t>☁️ Online → Online</a:t>
            </a:r>
          </a:p>
          <a:p>
            <a:pPr algn="ctr">
              <a:defRPr sz="1600" b="1">
                <a:solidFill>
                  <a:srgbClr val="663300"/>
                </a:solidFill>
              </a:defRPr>
            </a:pPr>
          </a:p>
          <a:p>
            <a:pPr algn="ctr">
              <a:defRPr sz="1600" b="1">
                <a:solidFill>
                  <a:srgbClr val="663300"/>
                </a:solidFill>
              </a:defRPr>
            </a:pPr>
            <a:r>
              <a:t>RTC Snapshot</a:t>
            </a:r>
          </a:p>
          <a:p>
            <a:pPr algn="ctr">
              <a:defRPr sz="1600" b="1">
                <a:solidFill>
                  <a:srgbClr val="663300"/>
                </a:solidFill>
              </a:defRPr>
            </a:pPr>
            <a:r>
              <a:t>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13716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6633"/>
                </a:solidFill>
              </a:defRPr>
            </a:pPr>
            <a:r>
              <a:t>🔄 Online → Offline</a:t>
            </a:r>
          </a:p>
          <a:p>
            <a:pPr algn="ctr">
              <a:defRPr sz="1600" b="1">
                <a:solidFill>
                  <a:srgbClr val="006633"/>
                </a:solidFill>
              </a:defRPr>
            </a:pPr>
          </a:p>
          <a:p>
            <a:pPr algn="ctr">
              <a:defRPr sz="1600" b="1">
                <a:solidFill>
                  <a:srgbClr val="006633"/>
                </a:solidFill>
              </a:defRPr>
            </a:pPr>
            <a:r>
              <a:t>Hybrid</a:t>
            </a:r>
          </a:p>
          <a:p>
            <a:pPr algn="ctr">
              <a:defRPr sz="1600" b="1">
                <a:solidFill>
                  <a:srgbClr val="006633"/>
                </a:solidFill>
              </a:defRPr>
            </a:pPr>
            <a:r>
              <a:t>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Local directories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ZIP archives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Manual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Live RTC snapshots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Changeset tracking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Work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2004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RTC + Local folder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Validate changes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Flexible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54880"/>
            <a:ext cx="1371600" cy="73152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Source 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26080" y="4937760"/>
            <a:ext cx="914400" cy="36576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31920" y="4572000"/>
            <a:ext cx="1280160" cy="109728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⚙️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Analysis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Tool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94960" y="4937760"/>
            <a:ext cx="914400" cy="36576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4754880"/>
            <a:ext cx="1371600" cy="73152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Source B</a:t>
            </a:r>
          </a:p>
        </p:txBody>
      </p:sp>
      <p:sp>
        <p:nvSpPr>
          <p:cNvPr id="16" name="Document 15"/>
          <p:cNvSpPr/>
          <p:nvPr/>
        </p:nvSpPr>
        <p:spPr>
          <a:xfrm>
            <a:off x="3200400" y="5760720"/>
            <a:ext cx="2743200" cy="822960"/>
          </a:xfrm>
          <a:prstGeom prst="flowChartDocument">
            <a:avLst/>
          </a:prstGeom>
          <a:solidFill>
            <a:srgbClr val="C8FFC8"/>
          </a:solidFill>
          <a:ln w="25400"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6600"/>
                </a:solidFill>
              </a:defRPr>
            </a:pPr>
            <a:r>
              <a:t>📊 Analysis Report</a:t>
            </a:r>
          </a:p>
          <a:p>
            <a:pPr algn="ctr">
              <a:defRPr b="1" sz="1400">
                <a:solidFill>
                  <a:srgbClr val="006600"/>
                </a:solidFill>
              </a:defRPr>
            </a:pPr>
            <a:r>
              <a:t>(HTML + Excel)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⚡ Time Savings: 10x Performance Boost!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50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828800"/>
            <a:ext cx="4572000" cy="274320"/>
          </a:xfrm>
          <a:prstGeom prst="roundRect">
            <a:avLst/>
          </a:prstGeom>
          <a:solidFill>
            <a:srgbClr val="FF6464"/>
          </a:solidFill>
          <a:ln w="127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Before: 2-3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194560"/>
            <a:ext cx="457200" cy="274320"/>
          </a:xfrm>
          <a:prstGeom prst="roundRect">
            <a:avLst/>
          </a:prstGeom>
          <a:solidFill>
            <a:srgbClr val="64FF64"/>
          </a:solidFill>
          <a:ln w="12700"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6600"/>
                </a:solidFill>
              </a:defRPr>
            </a:pPr>
            <a:r>
              <a:t>After: 15-20 sec</a:t>
            </a:r>
          </a:p>
        </p:txBody>
      </p:sp>
      <p:sp>
        <p:nvSpPr>
          <p:cNvPr id="8" name="Oval 7"/>
          <p:cNvSpPr/>
          <p:nvPr/>
        </p:nvSpPr>
        <p:spPr>
          <a:xfrm>
            <a:off x="6949440" y="1920240"/>
            <a:ext cx="822960" cy="548640"/>
          </a:xfrm>
          <a:prstGeom prst="ellipse">
            <a:avLst/>
          </a:prstGeom>
          <a:solidFill>
            <a:srgbClr val="FFD7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10x 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200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2468880"/>
            <a:ext cx="4572000" cy="274320"/>
          </a:xfrm>
          <a:prstGeom prst="roundRect">
            <a:avLst/>
          </a:prstGeom>
          <a:solidFill>
            <a:srgbClr val="FF6464"/>
          </a:solidFill>
          <a:ln w="127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Before: 10-15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834640"/>
            <a:ext cx="594360" cy="274320"/>
          </a:xfrm>
          <a:prstGeom prst="roundRect">
            <a:avLst/>
          </a:prstGeom>
          <a:solidFill>
            <a:srgbClr val="64FF64"/>
          </a:solidFill>
          <a:ln w="12700"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6600"/>
                </a:solidFill>
              </a:defRPr>
            </a:pPr>
            <a:r>
              <a:t>After: 1-2 min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2560320"/>
            <a:ext cx="822960" cy="548640"/>
          </a:xfrm>
          <a:prstGeom prst="ellipse">
            <a:avLst/>
          </a:prstGeom>
          <a:solidFill>
            <a:srgbClr val="FFD7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10x 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Single Diff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108960"/>
            <a:ext cx="4572000" cy="274320"/>
          </a:xfrm>
          <a:prstGeom prst="roundRect">
            <a:avLst/>
          </a:prstGeom>
          <a:solidFill>
            <a:srgbClr val="FF6464"/>
          </a:solidFill>
          <a:ln w="127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Before: 2-3 sec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474720"/>
            <a:ext cx="1508760" cy="274320"/>
          </a:xfrm>
          <a:prstGeom prst="roundRect">
            <a:avLst/>
          </a:prstGeom>
          <a:solidFill>
            <a:srgbClr val="64FF64"/>
          </a:solidFill>
          <a:ln w="12700"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6600"/>
                </a:solidFill>
              </a:defRPr>
            </a:pPr>
            <a:r>
              <a:t>After: 0.5-1 sec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3200400"/>
            <a:ext cx="822960" cy="548640"/>
          </a:xfrm>
          <a:prstGeom prst="ellipse">
            <a:avLst/>
          </a:prstGeom>
          <a:solidFill>
            <a:srgbClr val="FFD7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10x 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645920" cy="10972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🚀 Parallel</a:t>
            </a:r>
          </a:p>
          <a:p>
            <a:pPr algn="ctr">
              <a:defRPr sz="1200" b="1"/>
            </a:pPr>
            <a:r>
              <a:t>Processing</a:t>
            </a:r>
          </a:p>
          <a:p>
            <a:pPr algn="ctr">
              <a:defRPr sz="1200" b="1"/>
            </a:pPr>
          </a:p>
          <a:p>
            <a:pPr algn="ctr">
              <a:defRPr sz="1200" b="1"/>
            </a:pPr>
            <a:r>
              <a:t>10 files at once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5029200"/>
            <a:ext cx="1645920" cy="109728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💾 Memory</a:t>
            </a:r>
          </a:p>
          <a:p>
            <a:pPr algn="ctr">
              <a:defRPr sz="1200" b="1"/>
            </a:pPr>
            <a:r>
              <a:t>Diffs</a:t>
            </a:r>
          </a:p>
          <a:p>
            <a:pPr algn="ctr">
              <a:defRPr sz="1200" b="1"/>
            </a:pPr>
          </a:p>
          <a:p>
            <a:pPr algn="ctr">
              <a:defRPr sz="1200" b="1"/>
            </a:pPr>
            <a:r>
              <a:t>No temp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029200"/>
            <a:ext cx="1645920" cy="10972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📏 Smart</a:t>
            </a:r>
          </a:p>
          <a:p>
            <a:pPr algn="ctr">
              <a:defRPr sz="1200" b="1"/>
            </a:pPr>
            <a:r>
              <a:t>Filtering</a:t>
            </a:r>
          </a:p>
          <a:p>
            <a:pPr algn="ctr">
              <a:defRPr sz="1200" b="1"/>
            </a:pPr>
          </a:p>
          <a:p>
            <a:pPr algn="ctr">
              <a:defRPr sz="1200" b="1"/>
            </a:pPr>
            <a:r>
              <a:t>Skip large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029200"/>
            <a:ext cx="1645920" cy="1097280"/>
          </a:xfrm>
          <a:prstGeom prst="roundRect">
            <a:avLst/>
          </a:prstGeom>
          <a:solidFill>
            <a:srgbClr val="FFDC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📊 Real-Time</a:t>
            </a:r>
          </a:p>
          <a:p>
            <a:pPr algn="ctr">
              <a:defRPr sz="1200" b="1"/>
            </a:pPr>
            <a:r>
              <a:t>Progress</a:t>
            </a:r>
          </a:p>
          <a:p>
            <a:pPr algn="ctr">
              <a:defRPr sz="1200" b="1"/>
            </a:pPr>
          </a:p>
          <a:p>
            <a:pPr algn="ctr">
              <a:defRPr sz="1200" b="1"/>
            </a:pPr>
            <a:r>
              <a:t>Live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✨ 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1645920"/>
          </a:xfrm>
          <a:prstGeom prst="roundRect">
            <a:avLst/>
          </a:prstGeom>
          <a:solidFill>
            <a:srgbClr val="C8E6FF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Interface</a:t>
            </a:r>
          </a:p>
          <a:p>
            <a: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Analyze header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file interfaces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560320" cy="1645920"/>
          </a:xfrm>
          <a:prstGeom prst="roundRect">
            <a:avLst/>
          </a:prstGeom>
          <a:solidFill>
            <a:srgbClr val="FFE6C8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Platform</a:t>
            </a:r>
          </a:p>
          <a:p>
            <a:r>
              <a:t>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Visualize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dependencies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DCFFDC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AI Smart</a:t>
            </a:r>
          </a:p>
          <a:p>
            <a:r>
              <a:t>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Intelligent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suggestions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2560320" cy="1645920"/>
          </a:xfrm>
          <a:prstGeom prst="roundRect">
            <a:avLst/>
          </a:prstGeom>
          <a:solidFill>
            <a:srgbClr val="FFDCFF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3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RTC/ALM</a:t>
            </a:r>
          </a:p>
          <a:p>
            <a:r>
              <a:t>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Live server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connectivity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657600"/>
            <a:ext cx="2560320" cy="1645920"/>
          </a:xfrm>
          <a:prstGeom prst="roundRect">
            <a:avLst/>
          </a:prstGeom>
          <a:solidFill>
            <a:srgbClr val="FFFFC8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74903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297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Comprehensive</a:t>
            </a:r>
          </a:p>
          <a:p>
            <a:r>
              <a:t>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754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HTML + Excel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657600"/>
            <a:ext cx="2560320" cy="1645920"/>
          </a:xfrm>
          <a:prstGeom prst="roundRect">
            <a:avLst/>
          </a:prstGeom>
          <a:solidFill>
            <a:srgbClr val="C8FFFF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4903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97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AI</a:t>
            </a:r>
          </a:p>
          <a:p>
            <a:r>
              <a:t>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754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Ask questions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get answers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629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365760"/>
            <a:ext cx="9006840" cy="9144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🔐 RTC/ALM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t>🔐 Direct RTC Server Connectivity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Secure authentication with credential caching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Support for multiple RTC workspaces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📸 Snapshot Management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Fetch and compare live snapshots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Component-level analysis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Automatic changeset tracking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📝 Work Item Integration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Link changes to work items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Fetch work item details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Track development progress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629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365760"/>
            <a:ext cx="9006840" cy="9144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🤖 AI-Powered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t>🤖 Smart Merge Suggestions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Google Gemini AI integration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Context-aware conflict resolution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Intelligent code recommendations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💬 AI Comparison Assistant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Ask natural language questions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Get detailed change explanations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Dependency and impact analysis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🎯 Comment Detection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Identify comment-only changes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Filter noise from real changes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Improve analysis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629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365760"/>
            <a:ext cx="9006840" cy="9144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📊 Comprehensive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t>📊 Excel Reports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Detailed statistics and metrics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Component-wise breakdowns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Exportable for stakeholders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🌐 HTML Diff Reports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Side-by-side color-coded diffs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Syntax highlighting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Interactive navigation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📈 Visual Dashboards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Progress tracking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Change summaries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Interface compatibility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629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365760"/>
            <a:ext cx="9006840" cy="9144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💼 Real-World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t>🚀 Platform Migration Projects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Migrate from old to new platforms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Identify breaking API changes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Track migration completeness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✅ Release Validation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Verify release candidate quality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Compare against baselines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Ensure code integrity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🔄 Merge Management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Resolve complex merge conflicts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AI-powered suggestions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Streamline integration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629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365760"/>
            <a:ext cx="9006840" cy="9144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✅ Benefits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t>⏱️ Massive Time Savings: 10x faster processing</a:t>
            </a:r>
          </a:p>
          <a:p>
            <a:pPr>
              <a:spcBef>
                <a:spcPts val="1400"/>
              </a:spcBef>
              <a:defRPr sz="2000"/>
            </a:pPr>
            <a:r>
              <a:t>🎯 High Accuracy: Comprehensive change detection</a:t>
            </a:r>
          </a:p>
          <a:p>
            <a:pPr>
              <a:spcBef>
                <a:spcPts val="1400"/>
              </a:spcBef>
              <a:defRPr sz="2000"/>
            </a:pPr>
            <a:r>
              <a:t>🤝 Team Collaboration: Shareable reports</a:t>
            </a:r>
          </a:p>
          <a:p>
            <a:pPr>
              <a:spcBef>
                <a:spcPts val="1400"/>
              </a:spcBef>
              <a:defRPr sz="2000"/>
            </a:pPr>
            <a:r>
              <a:t>🔧 Easy to Use: Intuitive GUI interface</a:t>
            </a:r>
          </a:p>
          <a:p>
            <a:pPr>
              <a:spcBef>
                <a:spcPts val="1400"/>
              </a:spcBef>
              <a:defRPr sz="2000"/>
            </a:pPr>
            <a:r>
              <a:t>🔐 Enterprise Ready: RTC/ALM integration</a:t>
            </a:r>
          </a:p>
          <a:p>
            <a:pPr>
              <a:spcBef>
                <a:spcPts val="1400"/>
              </a:spcBef>
              <a:defRPr sz="2000"/>
            </a:pPr>
            <a:r>
              <a:t>🤖 Intelligent: AI-powered assistance</a:t>
            </a:r>
          </a:p>
          <a:p>
            <a:pPr>
              <a:spcBef>
                <a:spcPts val="1400"/>
              </a:spcBef>
              <a:defRPr sz="2000"/>
            </a:pPr>
            <a:r>
              <a:t>📊 Complete Visibility: Detailed analytics</a:t>
            </a:r>
          </a:p>
          <a:p>
            <a:pPr>
              <a:spcBef>
                <a:spcPts val="1400"/>
              </a:spcBef>
              <a:defRPr sz="2000"/>
            </a:pPr>
            <a:r>
              <a:t>💪 Scalable: Handle large codebases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629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365760"/>
            <a:ext cx="9006840" cy="9144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📋 Complete Tool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t>✓ File Comparison &amp; Diff Generation</a:t>
            </a:r>
          </a:p>
          <a:p>
            <a:pPr>
              <a:spcBef>
                <a:spcPts val="1400"/>
              </a:spcBef>
              <a:defRPr sz="2000"/>
            </a:pPr>
            <a:r>
              <a:t>✓ RTC Snapshot Management &amp; Fetching</a:t>
            </a:r>
          </a:p>
          <a:p>
            <a:pPr>
              <a:spcBef>
                <a:spcPts val="1400"/>
              </a:spcBef>
              <a:defRPr sz="2000"/>
            </a:pPr>
            <a:r>
              <a:t>✓ Changeset &amp; Work Item Tracking</a:t>
            </a:r>
          </a:p>
          <a:p>
            <a:pPr>
              <a:spcBef>
                <a:spcPts val="1400"/>
              </a:spcBef>
              <a:defRPr sz="2000"/>
            </a:pPr>
            <a:r>
              <a:t>✓ Interface Analysis (Header Files)</a:t>
            </a:r>
          </a:p>
          <a:p>
            <a:pPr>
              <a:spcBef>
                <a:spcPts val="1400"/>
              </a:spcBef>
              <a:defRPr sz="2000"/>
            </a:pPr>
            <a:r>
              <a:t>✓ Platform Dependency Visualization</a:t>
            </a:r>
          </a:p>
          <a:p>
            <a:pPr>
              <a:spcBef>
                <a:spcPts val="1400"/>
              </a:spcBef>
              <a:defRPr sz="2000"/>
            </a:pPr>
            <a:r>
              <a:t>✓ AI-Powered Merge Suggestions</a:t>
            </a:r>
          </a:p>
          <a:p>
            <a:pPr>
              <a:spcBef>
                <a:spcPts val="1400"/>
              </a:spcBef>
              <a:defRPr sz="2000"/>
            </a:pPr>
            <a:r>
              <a:t>✓ Excel &amp; HTML Report Generation</a:t>
            </a:r>
          </a:p>
          <a:p>
            <a:pPr>
              <a:spcBef>
                <a:spcPts val="1400"/>
              </a:spcBef>
              <a:defRPr sz="2000"/>
            </a:pPr>
            <a:r>
              <a:t>✓ Parallel Processing Engine (10x faster)</a:t>
            </a:r>
          </a:p>
          <a:p>
            <a:pPr>
              <a:spcBef>
                <a:spcPts val="1400"/>
              </a:spcBef>
              <a:defRPr sz="2000"/>
            </a:pPr>
            <a:r>
              <a:t>✓ Comment-Only Change Detection</a:t>
            </a:r>
          </a:p>
          <a:p>
            <a:pPr>
              <a:spcBef>
                <a:spcPts val="1400"/>
              </a:spcBef>
              <a:defRPr sz="2000"/>
            </a:pPr>
            <a:r>
              <a:t>✓ ZIP Archive Support</a:t>
            </a:r>
          </a:p>
          <a:p>
            <a:pPr>
              <a:spcBef>
                <a:spcPts val="1400"/>
              </a:spcBef>
              <a:defRPr sz="2000"/>
            </a:pPr>
            <a:r>
              <a:t>✓ Credential Management &amp; Caching</a:t>
            </a:r>
          </a:p>
          <a:p>
            <a:pPr>
              <a:spcBef>
                <a:spcPts val="1400"/>
              </a:spcBef>
              <a:defRPr sz="2000"/>
            </a:pPr>
            <a:r>
              <a:t>✓ Real-Time Progress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629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365760"/>
            <a:ext cx="9006840" cy="9144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🚀 Getting Started - 4 Easy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t>1️⃣ Launch the Application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Execute: python main.py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Or use the standalone executable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2️⃣ Choose Comparison Mode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Offline (Folders/ZIPs)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Online (RTC Snapshots)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Hybrid (Online + Offline)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3️⃣ Configure &amp; Connect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Enter RTC credentials (if needed)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Select source and target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Enable desired features</a:t>
            </a:r>
          </a:p>
          <a:p>
            <a:pPr>
              <a:spcBef>
                <a:spcPts val="1400"/>
              </a:spcBef>
              <a:defRPr sz="2000"/>
            </a:pPr>
          </a:p>
          <a:p>
            <a:pPr>
              <a:spcBef>
                <a:spcPts val="1400"/>
              </a:spcBef>
              <a:defRPr sz="2000"/>
            </a:pPr>
            <a:r>
              <a:t>4️⃣ Analyze &amp; Review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Run comparison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View HTML/Excel reports</a:t>
            </a:r>
          </a:p>
          <a:p>
            <a:pPr lvl="1"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Ask AI assistant questions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457200"/>
            <a:ext cx="1828800" cy="18288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solidFill>
            <a:srgbClr val="003366"/>
          </a:solidFill>
          <a:ln w="381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0"/>
            </a:pPr>
            <a:r>
              <a:t>⚙️🔧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66666"/>
                </a:solidFill>
              </a:defRPr>
            </a:pPr>
            <a:r>
              <a:t>Questions? Let's Discuss!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