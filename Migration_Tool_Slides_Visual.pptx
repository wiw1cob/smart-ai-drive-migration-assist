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0" y="457200"/>
            <a:ext cx="1828800" cy="1828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5486400"/>
            <a:ext cx="1371600" cy="1371600"/>
          </a:xfrm>
          <a:prstGeom prst="ellipse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1828800"/>
          </a:xfrm>
          <a:prstGeom prst="roundRect">
            <a:avLst/>
          </a:prstGeom>
          <a:solidFill>
            <a:srgbClr val="003366"/>
          </a:solidFill>
          <a:ln w="635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500"/>
            </a:pPr>
            <a:r>
              <a:t>⚙️</a:t>
            </a:r>
          </a:p>
          <a:p>
            <a:pPr algn="ctr">
              <a:defRPr sz="5500"/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Migration Analysis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E60000"/>
                </a:solidFill>
              </a:defRPr>
            </a:pPr>
            <a:r>
              <a:t>⚡ 10x Faster Code Migration Analysis with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43600"/>
            <a:ext cx="2011680" cy="54864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☁️ RTC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943600"/>
            <a:ext cx="2011680" cy="54864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🤖 AI-Powered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5943600"/>
            <a:ext cx="2011680" cy="54864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📊 Smart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🎯 Complete Migration Analysis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64592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📁 Folders/ZIPs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645920" cy="64008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☁️ RTC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08960"/>
            <a:ext cx="1645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🔄 Hybrid Mode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03120" y="1645920"/>
            <a:ext cx="82296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2103120" y="2468880"/>
            <a:ext cx="82296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2103120" y="3291840"/>
            <a:ext cx="82296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rocess 10"/>
          <p:cNvSpPr/>
          <p:nvPr/>
        </p:nvSpPr>
        <p:spPr>
          <a:xfrm>
            <a:off x="2926080" y="2103120"/>
            <a:ext cx="1645920" cy="1280160"/>
          </a:xfrm>
          <a:prstGeom prst="flowChartProcess">
            <a:avLst/>
          </a:prstGeom>
          <a:solidFill>
            <a:srgbClr val="003366"/>
          </a:solidFill>
          <a:ln w="381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⚙️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Analysis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Engine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10x Faster</a:t>
            </a:r>
          </a:p>
        </p:txBody>
      </p:sp>
      <p:sp>
        <p:nvSpPr>
          <p:cNvPr id="12" name="Decision 11"/>
          <p:cNvSpPr/>
          <p:nvPr/>
        </p:nvSpPr>
        <p:spPr>
          <a:xfrm>
            <a:off x="4754880" y="2194560"/>
            <a:ext cx="1371600" cy="1097280"/>
          </a:xfrm>
          <a:prstGeom prst="flowChartDecision">
            <a:avLst/>
          </a:prstGeom>
          <a:solidFill>
            <a:srgbClr val="9333EA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Assist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17720" y="2606040"/>
            <a:ext cx="22860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cument 13"/>
          <p:cNvSpPr/>
          <p:nvPr/>
        </p:nvSpPr>
        <p:spPr>
          <a:xfrm>
            <a:off x="914400" y="4114800"/>
            <a:ext cx="1188720" cy="1097280"/>
          </a:xfrm>
          <a:prstGeom prst="flowChartDocument">
            <a:avLst/>
          </a:prstGeom>
          <a:solidFill>
            <a:srgbClr val="FFEB9C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/>
            </a:pPr>
            <a:r>
              <a:t>📊</a:t>
            </a:r>
          </a:p>
          <a:p>
            <a:pPr algn="ctr">
              <a:defRPr sz="1300" b="1"/>
            </a:pPr>
            <a:r>
              <a:t>Excel</a:t>
            </a:r>
          </a:p>
          <a:p>
            <a:pPr algn="ctr">
              <a:defRPr sz="1300" b="1"/>
            </a:pPr>
            <a:r>
              <a:t>Reports</a:t>
            </a:r>
          </a:p>
        </p:txBody>
      </p:sp>
      <p:sp>
        <p:nvSpPr>
          <p:cNvPr id="15" name="Document 14"/>
          <p:cNvSpPr/>
          <p:nvPr/>
        </p:nvSpPr>
        <p:spPr>
          <a:xfrm>
            <a:off x="3200400" y="4114800"/>
            <a:ext cx="1188720" cy="1097280"/>
          </a:xfrm>
          <a:prstGeom prst="flowChartDocument">
            <a:avLst/>
          </a:prstGeom>
          <a:solidFill>
            <a:srgbClr val="B3E5FC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/>
            </a:pPr>
            <a:r>
              <a:t>🌐</a:t>
            </a:r>
          </a:p>
          <a:p>
            <a:pPr algn="ctr">
              <a:defRPr sz="1300" b="1"/>
            </a:pPr>
            <a:r>
              <a:t>HTML</a:t>
            </a:r>
          </a:p>
          <a:p>
            <a:pPr algn="ctr">
              <a:defRPr sz="1300" b="1"/>
            </a:pPr>
            <a:r>
              <a:t>Diffs</a:t>
            </a:r>
          </a:p>
        </p:txBody>
      </p:sp>
      <p:sp>
        <p:nvSpPr>
          <p:cNvPr id="16" name="Document 15"/>
          <p:cNvSpPr/>
          <p:nvPr/>
        </p:nvSpPr>
        <p:spPr>
          <a:xfrm>
            <a:off x="5486400" y="4114800"/>
            <a:ext cx="1188720" cy="1097280"/>
          </a:xfrm>
          <a:prstGeom prst="flowChartDocument">
            <a:avLst/>
          </a:prstGeom>
          <a:solidFill>
            <a:srgbClr val="CEEDC7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/>
            </a:pPr>
            <a:r>
              <a:t>💬</a:t>
            </a:r>
          </a:p>
          <a:p>
            <a:pPr algn="ctr">
              <a:defRPr sz="1300" b="1"/>
            </a:pPr>
            <a:r>
              <a:t>AI</a:t>
            </a:r>
          </a:p>
          <a:p>
            <a:pPr algn="ctr">
              <a:defRPr sz="1300" b="1"/>
            </a:pPr>
            <a:r>
              <a:t>Insights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371600" y="3474720"/>
            <a:ext cx="365760" cy="548640"/>
          </a:xfrm>
          <a:prstGeom prst="downArrow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3566160" y="3474720"/>
            <a:ext cx="365760" cy="548640"/>
          </a:xfrm>
          <a:prstGeom prst="downArrow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5760720" y="3383280"/>
            <a:ext cx="365760" cy="640080"/>
          </a:xfrm>
          <a:prstGeom prst="downArrow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FFF5E6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663300"/>
                </a:solidFill>
              </a:defRPr>
            </a:pPr>
            <a:r>
              <a:t>✨ Features: Multi-Mode Comparison • RTC/ALM Integration • Parallel Processing • AI Merge • Real-time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60000"/>
                </a:solidFill>
              </a:defRPr>
            </a:pPr>
            <a:r>
              <a:t>⚡ 10x FASTER PERFORMANCE!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1645920"/>
            <a:ext cx="4572000" cy="2743200"/>
          </a:xfrm>
          <a:prstGeom prst="ellipse">
            <a:avLst/>
          </a:prstGeom>
          <a:solidFill>
            <a:srgbClr val="323232"/>
          </a:solidFill>
          <a:ln w="508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43200" y="2103120"/>
            <a:ext cx="3657600" cy="219456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0413" y="2264361"/>
            <a:ext cx="1523174" cy="1323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X</a:t>
            </a:r>
          </a:p>
          <a:p>
            <a:pPr algn="ctr">
              <a:defRPr sz="4000" b="1">
                <a:solidFill>
                  <a:srgbClr val="FFD700"/>
                </a:solidFill>
              </a:defRPr>
            </a:pPr>
            <a:r>
              <a:rPr dirty="0"/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❌ 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7315200" cy="457200"/>
          </a:xfrm>
          <a:prstGeom prst="roundRect">
            <a:avLst/>
          </a:prstGeom>
          <a:solidFill>
            <a:srgbClr val="FF6464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200 files: </a:t>
            </a:r>
            <a:r>
              <a:rPr lang="en-US" dirty="0"/>
              <a:t>3 Hours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✅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126480"/>
            <a:ext cx="1097280" cy="457200"/>
          </a:xfrm>
          <a:prstGeom prst="roundRect">
            <a:avLst/>
          </a:prstGeom>
          <a:solidFill>
            <a:srgbClr val="64FF64"/>
          </a:solidFill>
          <a:ln w="254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6600"/>
                </a:solidFill>
              </a:defRPr>
            </a:pPr>
            <a:r>
              <a:t>1-2 minutes!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669280"/>
            <a:ext cx="109728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🚀 Parallel</a:t>
            </a:r>
          </a:p>
          <a:p>
            <a:pPr algn="ctr">
              <a:defRPr sz="1300" b="1"/>
            </a:pPr>
            <a:r>
              <a:t>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669280"/>
            <a:ext cx="1097280" cy="91440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💾 Memory</a:t>
            </a:r>
          </a:p>
          <a:p>
            <a:pPr algn="ctr">
              <a:defRPr sz="1300" b="1"/>
            </a:pPr>
            <a:r>
              <a:t>Optimized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5669280"/>
            <a:ext cx="109728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📏 Smart</a:t>
            </a:r>
          </a:p>
          <a:p>
            <a:pPr algn="ctr">
              <a:defRPr sz="1300" b="1"/>
            </a:pPr>
            <a:r>
              <a:t>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669280"/>
            <a:ext cx="1097280" cy="914400"/>
          </a:xfrm>
          <a:prstGeom prst="roundRect">
            <a:avLst/>
          </a:prstGeom>
          <a:solidFill>
            <a:srgbClr val="FFDC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⚡ Real-Time</a:t>
            </a:r>
          </a:p>
          <a:p>
            <a:pPr algn="ctr">
              <a:defRPr sz="1300" b="1"/>
            </a:pPr>
            <a:r>
              <a:t>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8867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t>✨ Complete Feature Set</a:t>
            </a:r>
          </a:p>
        </p:txBody>
      </p:sp>
      <p:sp>
        <p:nvSpPr>
          <p:cNvPr id="5" name="Hexagon 4"/>
          <p:cNvSpPr/>
          <p:nvPr/>
        </p:nvSpPr>
        <p:spPr>
          <a:xfrm>
            <a:off x="3474720" y="2743200"/>
            <a:ext cx="2194560" cy="1828800"/>
          </a:xfrm>
          <a:prstGeom prst="hexagon">
            <a:avLst/>
          </a:prstGeom>
          <a:solidFill>
            <a:srgbClr val="003366"/>
          </a:solidFill>
          <a:ln w="508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Migration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Analysis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</a:t>
            </a:r>
          </a:p>
        </p:txBody>
      </p:sp>
      <p:sp>
        <p:nvSpPr>
          <p:cNvPr id="6" name="Right Arrow 5"/>
          <p:cNvSpPr/>
          <p:nvPr/>
        </p:nvSpPr>
        <p:spPr>
          <a:xfrm rot="1603216" flipV="1">
            <a:off x="2410329" y="2741337"/>
            <a:ext cx="1463040" cy="201172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 rot="5400000">
            <a:off x="4507991" y="2372873"/>
            <a:ext cx="548639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 rot="8527497">
            <a:off x="5623414" y="3009927"/>
            <a:ext cx="1034554" cy="482792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 flipH="1" flipV="1">
            <a:off x="5285232" y="4230370"/>
            <a:ext cx="2121407" cy="274311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212080" y="5943600"/>
            <a:ext cx="365760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2345436" y="4416556"/>
            <a:ext cx="1554479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7280" y="1645920"/>
            <a:ext cx="1371600" cy="1097280"/>
          </a:xfrm>
          <a:prstGeom prst="roundRect">
            <a:avLst/>
          </a:prstGeom>
          <a:solidFill>
            <a:srgbClr val="C8E6FF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🔍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Interface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371600"/>
            <a:ext cx="1371600" cy="1097280"/>
          </a:xfrm>
          <a:prstGeom prst="roundRect">
            <a:avLst/>
          </a:prstGeom>
          <a:solidFill>
            <a:srgbClr val="FFE6C8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📊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HTML/Excel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1371600" cy="1097280"/>
          </a:xfrm>
          <a:prstGeom prst="roundRect">
            <a:avLst/>
          </a:prstGeom>
          <a:solidFill>
            <a:srgbClr val="DCFFDC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☁️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RTC/ALM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389120"/>
            <a:ext cx="1371600" cy="1097280"/>
          </a:xfrm>
          <a:prstGeom prst="roundRect">
            <a:avLst/>
          </a:prstGeom>
          <a:solidFill>
            <a:srgbClr val="FFDCFF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⚡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10x Faster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5303520"/>
            <a:ext cx="1371600" cy="1097280"/>
          </a:xfrm>
          <a:prstGeom prst="roundRect">
            <a:avLst/>
          </a:prstGeom>
          <a:solidFill>
            <a:srgbClr val="FFFFC8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🤖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AI Smart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1371600" cy="1097280"/>
          </a:xfrm>
          <a:prstGeom prst="roundRect">
            <a:avLst/>
          </a:prstGeom>
          <a:solidFill>
            <a:srgbClr val="FFC8C8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🔗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Dependency</a:t>
            </a:r>
          </a:p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Mapping</a:t>
            </a:r>
          </a:p>
        </p:txBody>
      </p:sp>
      <p:sp>
        <p:nvSpPr>
          <p:cNvPr id="18" name="Right Arrow 10">
            <a:extLst>
              <a:ext uri="{FF2B5EF4-FFF2-40B4-BE49-F238E27FC236}">
                <a16:creationId xmlns:a16="http://schemas.microsoft.com/office/drawing/2014/main" id="{3D19C974-C9CB-2F0C-1801-26A3C4896341}"/>
              </a:ext>
            </a:extLst>
          </p:cNvPr>
          <p:cNvSpPr/>
          <p:nvPr/>
        </p:nvSpPr>
        <p:spPr>
          <a:xfrm rot="16200000">
            <a:off x="4073655" y="4882899"/>
            <a:ext cx="795523" cy="137159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🚀 Get Started in 4 Easy Steps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554480"/>
            <a:ext cx="685800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4592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Launch Application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python main.py or .exe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05840" y="2468880"/>
            <a:ext cx="274320" cy="548640"/>
          </a:xfrm>
          <a:prstGeom prst="down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83464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743200"/>
            <a:ext cx="6858000" cy="91440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Select Mode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Offline / Online / Hybrid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05840" y="3657600"/>
            <a:ext cx="274320" cy="548640"/>
          </a:xfrm>
          <a:prstGeom prst="down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02336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931920"/>
            <a:ext cx="685800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41148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2336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Configure &amp; Run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Set sources, RTC login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05840" y="4846320"/>
            <a:ext cx="274320" cy="548640"/>
          </a:xfrm>
          <a:prstGeom prst="down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521208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120640"/>
            <a:ext cx="6858000" cy="914400"/>
          </a:xfrm>
          <a:prstGeom prst="roundRect">
            <a:avLst/>
          </a:prstGeom>
          <a:solidFill>
            <a:srgbClr val="FFDC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53035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1208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View Results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HTML/Excel reports + AI chat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217920"/>
            <a:ext cx="7315200" cy="548640"/>
          </a:xfrm>
          <a:prstGeom prst="roundRect">
            <a:avLst/>
          </a:prstGeom>
          <a:solidFill>
            <a:srgbClr val="FFD700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/>
              <a:t>🎉 Start Migrating Faster Today!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190</Words>
  <Application>Microsoft Office PowerPoint</Application>
  <PresentationFormat>On-screen Show (4:3)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Sivaharish S V (MS/EHN21-VM)</dc:creator>
  <cp:keywords/>
  <dc:description>generated using python-pptx</dc:description>
  <cp:lastModifiedBy>Sivaharish S V (MS/EHN21-VM)</cp:lastModifiedBy>
  <cp:revision>3</cp:revision>
  <dcterms:created xsi:type="dcterms:W3CDTF">2013-01-27T09:14:16Z</dcterms:created>
  <dcterms:modified xsi:type="dcterms:W3CDTF">2026-05-15T09:11:09Z</dcterms:modified>
  <cp:category/>
</cp:coreProperties>
</file>